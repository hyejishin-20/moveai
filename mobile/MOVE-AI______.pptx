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9630" y="1623417"/>
            <a:ext cx="17145446" cy="842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26"/>
              </a:lnSpc>
              <a:buNone/>
            </a:pPr>
            <a:r>
              <a:rPr lang="en-US" sz="9450" b="1" spc="-189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MOVE-AI</a:t>
            </a:r>
            <a:endParaRPr lang="en-US" sz="9450" dirty="0"/>
          </a:p>
        </p:txBody>
      </p:sp>
      <p:sp>
        <p:nvSpPr>
          <p:cNvPr id="3" name="Text 1"/>
          <p:cNvSpPr/>
          <p:nvPr/>
        </p:nvSpPr>
        <p:spPr>
          <a:xfrm>
            <a:off x="1371600" y="2827536"/>
            <a:ext cx="7847067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31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사라지는 배송 현장 경험을, 다음 배송을 위한 데이터로. 베테랑 기사의 음성 한마디가 검수된 현장 지식이 되어 다음 기사의 Last 100m 안내로 돌아옵니다.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9105106"/>
            <a:ext cx="139972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MOVE-AI 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15530" y="9105106"/>
            <a:ext cx="145256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56037" y="9105106"/>
            <a:ext cx="104487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본선 발표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25000">
                <a:srgbClr val="0088B0">
                  <a:alpha val="100000"/>
                </a:srgbClr>
              </a:gs>
              <a:gs pos="2500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75000">
                <a:srgbClr val="EDBB00">
                  <a:alpha val="100000"/>
                </a:srgbClr>
              </a:gs>
              <a:gs pos="75000">
                <a:srgbClr val="201E1D">
                  <a:alpha val="10000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3961606"/>
            <a:ext cx="31809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27845" y="3846810"/>
            <a:ext cx="4511983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 밖의 마지막 100m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371600" y="5504557"/>
            <a:ext cx="31809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27845" y="5389761"/>
            <a:ext cx="4713456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경험이 다시 쓰이는 순환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71600" y="7047508"/>
            <a:ext cx="31809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27845" y="6932712"/>
            <a:ext cx="5593567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경험이 지식이 되어 돌아온다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371600" y="8590459"/>
            <a:ext cx="31809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27845" y="8475663"/>
            <a:ext cx="2304614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가치와 확장</a:t>
            </a:r>
            <a:endParaRPr lang="en-US" sz="3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4320" y="-10287000"/>
            <a:ext cx="18136209" cy="20574000"/>
          </a:xfrm>
          <a:prstGeom prst="rect">
            <a:avLst/>
          </a:prstGeom>
          <a:gradFill rotWithShape="1">
            <a:gsLst>
              <a:gs pos="0">
                <a:srgbClr val="EDBB00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100000">
                <a:srgbClr val="EDBB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900000">
            <a:off x="6574066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50000">
                <a:srgbClr val="0088B0">
                  <a:alpha val="100000"/>
                </a:srgbClr>
              </a:gs>
              <a:gs pos="100000">
                <a:srgbClr val="0088B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100000">
                <a:srgbClr val="D6006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100000">
                <a:srgbClr val="D6006C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8978" y="1623516"/>
            <a:ext cx="1403658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</a:t>
            </a:r>
            <a:endParaRPr lang="en-US" sz="5100" dirty="0"/>
          </a:p>
        </p:txBody>
      </p:sp>
      <p:sp>
        <p:nvSpPr>
          <p:cNvPr id="25" name="Shape 23"/>
          <p:cNvSpPr/>
          <p:nvPr/>
        </p:nvSpPr>
        <p:spPr>
          <a:xfrm>
            <a:off x="847030" y="4492030"/>
            <a:ext cx="4155976" cy="312033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258491" y="3651250"/>
            <a:ext cx="3666361" cy="47371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50290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0" dirty="0"/>
          </a:p>
        </p:txBody>
      </p:sp>
      <p:sp>
        <p:nvSpPr>
          <p:cNvPr id="27" name="Text 25"/>
          <p:cNvSpPr/>
          <p:nvPr/>
        </p:nvSpPr>
        <p:spPr>
          <a:xfrm>
            <a:off x="1258491" y="4903490"/>
            <a:ext cx="3666361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0" dirty="0"/>
          </a:p>
        </p:txBody>
      </p:sp>
      <p:sp>
        <p:nvSpPr>
          <p:cNvPr id="28" name="Text 26"/>
          <p:cNvSpPr/>
          <p:nvPr/>
        </p:nvSpPr>
        <p:spPr>
          <a:xfrm>
            <a:off x="1420634" y="4946781"/>
            <a:ext cx="3666361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0" dirty="0"/>
          </a:p>
        </p:txBody>
      </p:sp>
      <p:sp>
        <p:nvSpPr>
          <p:cNvPr id="29" name="Text 27"/>
          <p:cNvSpPr/>
          <p:nvPr/>
        </p:nvSpPr>
        <p:spPr>
          <a:xfrm>
            <a:off x="1190891" y="4782189"/>
            <a:ext cx="3666361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지도는 건물까지, 배송은 그 안에서 끝난다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131570" y="3885109"/>
            <a:ext cx="11746230" cy="3353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어느 게이트로 진입해야 하는가 — 정문으로 탑차가 들어갈 수 있는가</a:t>
            </a:r>
            <a:endParaRPr lang="en-US" sz="2700" dirty="0"/>
          </a:p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차량 높이·톤수 제한이 있는가, 어디에 정차하고 하역하는가</a:t>
            </a:r>
            <a:endParaRPr lang="en-US" sz="2700" dirty="0"/>
          </a:p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화물 엘리베이터는 어디에 있고 언제 혼잡한가</a:t>
            </a:r>
            <a:endParaRPr lang="en-US" sz="2700" dirty="0"/>
          </a:p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지도에 없는 문턱·좁은 통로·자동문 문제는 무엇인가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 경험은 담당자와 함께 사라진다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기억에만 남는 노하우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503"/>
            <a:ext cx="7475792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주소 이후에 필요한 맥락은 여러 번 방문한 기사의 기억에만 있다. 문서로도, 시스템으로도 남지 않는다.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5835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교체와 함께 초기화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58350" y="4533503"/>
            <a:ext cx="7475792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담당 기사가 바뀌면 경험은 그대로 사라지고, 새 기사는 같은 시행착오를 처음부터 다시 반복한다.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6590904"/>
            <a:ext cx="1596258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개인의 경험이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구조적으로 전달되지 않는 것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문제다. MOVE-AI는 이 경험을 데이터로 축적한다.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4320" y="-10287000"/>
            <a:ext cx="18136209" cy="20574000"/>
          </a:xfrm>
          <a:prstGeom prst="rect">
            <a:avLst/>
          </a:prstGeom>
          <a:gradFill rotWithShape="1">
            <a:gsLst>
              <a:gs pos="0">
                <a:srgbClr val="EDBB00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100000">
                <a:srgbClr val="EDBB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900000">
            <a:off x="6574066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50000">
                <a:srgbClr val="0088B0">
                  <a:alpha val="100000"/>
                </a:srgbClr>
              </a:gs>
              <a:gs pos="100000">
                <a:srgbClr val="0088B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100000">
                <a:srgbClr val="D6006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100000">
                <a:srgbClr val="D6006C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8978" y="1623516"/>
            <a:ext cx="3030071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MOVE-AI</a:t>
            </a:r>
            <a:endParaRPr lang="en-US" sz="5100" dirty="0"/>
          </a:p>
        </p:txBody>
      </p:sp>
      <p:sp>
        <p:nvSpPr>
          <p:cNvPr id="25" name="Shape 23"/>
          <p:cNvSpPr/>
          <p:nvPr/>
        </p:nvSpPr>
        <p:spPr>
          <a:xfrm>
            <a:off x="847030" y="4492030"/>
            <a:ext cx="4505920" cy="312033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258491" y="3651250"/>
            <a:ext cx="4051300" cy="47371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50290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  <p:sp>
        <p:nvSpPr>
          <p:cNvPr id="27" name="Text 25"/>
          <p:cNvSpPr/>
          <p:nvPr/>
        </p:nvSpPr>
        <p:spPr>
          <a:xfrm>
            <a:off x="1258491" y="4903490"/>
            <a:ext cx="4051300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  <p:sp>
        <p:nvSpPr>
          <p:cNvPr id="28" name="Text 26"/>
          <p:cNvSpPr/>
          <p:nvPr/>
        </p:nvSpPr>
        <p:spPr>
          <a:xfrm>
            <a:off x="1380083" y="5000831"/>
            <a:ext cx="4051300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  <p:sp>
        <p:nvSpPr>
          <p:cNvPr id="29" name="Text 27"/>
          <p:cNvSpPr/>
          <p:nvPr/>
        </p:nvSpPr>
        <p:spPr>
          <a:xfrm>
            <a:off x="1150340" y="4836239"/>
            <a:ext cx="4051300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사람의 경험이 다음 사람의 길이 된다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449266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수집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675783"/>
            <a:ext cx="4492665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기사의 현장 경험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71575" y="5780981"/>
            <a:ext cx="4360466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평소 말하듯 음성 제보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STT로 텍스트 변환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989241" y="5205314"/>
            <a:ext cx="6554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48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01880" y="4019153"/>
            <a:ext cx="449266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검증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01880" y="4675783"/>
            <a:ext cx="4492665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신뢰 가능한 지식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901855" y="5780981"/>
            <a:ext cx="4360466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원자 단위로 구조화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검수·승인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승인된 지식만 임베딩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719521" y="5205314"/>
            <a:ext cx="6554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48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2832160" y="4019153"/>
            <a:ext cx="449266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재사용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32160" y="4675783"/>
            <a:ext cx="4492665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배송 안내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2632135" y="5780981"/>
            <a:ext cx="4360466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상황으로 Hybrid RAG 검색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100m에 현장 팁 제공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71600" y="8352731"/>
            <a:ext cx="1596258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기사가 남긴 새 경험은 다시 이 순환에 더해진다 —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쓸수록 촘촘해지는 현장 지식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고정 경로와 현장 지식을 나눈다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— 어디로 가는가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503"/>
            <a:ext cx="7475792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관리자가 미리 등록한 Last 100m 배송 경로다. 후문 · 지하 정차지 · 하역장 · 방화문 · 카트 통로 · 인계점. 순서를 AI가 즉석에서 바꾸지 않는다.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5835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— 무엇을 알아야 하는가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58350" y="4533503"/>
            <a:ext cx="7475792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 경로 위에서 조심할 현장 경험이다. 차량 높이 주의, 문턱에 걸리는 카트, 점심시간 엘리베이터 혼잡. 기사 제보에서 쌓인다.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57610" y="7028656"/>
            <a:ext cx="17114669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고정 경로 </a:t>
            </a:r>
            <a:pPr algn="l" indent="0" marL="0">
              <a:lnSpc>
                <a:spcPct val="112500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</a:t>
            </a:r>
            <a:pPr algn="l" indent="0" marL="0">
              <a:lnSpc>
                <a:spcPct val="112500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 지식 </a:t>
            </a:r>
            <a:pPr algn="l" indent="0" marL="0">
              <a:lnSpc>
                <a:spcPct val="112500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pPr algn="l" indent="0" marL="0">
              <a:lnSpc>
                <a:spcPct val="112500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100m 안내</a:t>
            </a:r>
            <a:endParaRPr lang="en-US" sz="3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말하면 AI가 원자 단위 지식으로 나눈다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683962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기사 원문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666655"/>
            <a:ext cx="6404376" cy="185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750"/>
              </a:lnSpc>
              <a:buNone/>
            </a:pPr>
            <a:r>
              <a:rPr lang="en-US" sz="3150" i="1" spc="-31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“정문은 큰 탑차가 좀 힘들고, 후문으로 들어가서 지하에 세우면 되고, 점심에는 엘리베이터가 많이 막혀요.”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8122841" y="5076825"/>
            <a:ext cx="6554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48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235480" y="4019153"/>
            <a:ext cx="844901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나눈 지식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35455" y="5009555"/>
            <a:ext cx="7957146" cy="1772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정문 — 대형 차량 진입이 어렵다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후문 — 진입 경로로 이용할 수 있다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지하 정차 지점을 사용할 수 있다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점심시간 — 화물 엘리베이터가 혼잡하다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8095655"/>
            <a:ext cx="14946781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원문에 없는 숫자·경로·강한 표현을 만들지 않는다. “힘들다”를 “금지”로 바꾸지 않고,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근거 구절과 함께 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있는 그대로 구조화한다.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491" y="9771857"/>
            <a:ext cx="2068909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사람이 검수한 지식만 안내에 쓴다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487814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초안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714081"/>
            <a:ext cx="4878149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Draft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1575" y="5781080"/>
            <a:ext cx="4710906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원문·근거 구절과 함께 제시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149182" y="5024438"/>
            <a:ext cx="5106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26560" y="4019153"/>
            <a:ext cx="487825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26560" y="4714081"/>
            <a:ext cx="4878259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검수 · 승인 · 반려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26535" y="5781080"/>
            <a:ext cx="4711005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음성·원문·AI 결과를 나란히 비교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수정 후 승인 또는 반려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704241" y="5024438"/>
            <a:ext cx="5106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481620" y="4019153"/>
            <a:ext cx="487825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운영 지식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81620" y="4714081"/>
            <a:ext cx="4878259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Knowledge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81595" y="5781080"/>
            <a:ext cx="4711005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승인된 지식만 실제 안내에 사용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71600" y="7838480"/>
            <a:ext cx="1596258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그럴듯하게 만든 정보가 곧바로 운영 지식이 되지 않도록 —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으로 신뢰성을 확보한다.</a:t>
            </a:r>
            <a:endParaRPr lang="en-US" sz="2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상황에 맞는 경험만 검색한다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764431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 · 구조 조건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675783"/>
            <a:ext cx="7644319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맞지 않는 지식을 거른다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71575" y="5780981"/>
            <a:ext cx="7225605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차량 톤수 · 높이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시간 · 요일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장소 · 경로 · 이동 방식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854380" y="5205314"/>
            <a:ext cx="6554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48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967020" y="4019153"/>
            <a:ext cx="764431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 · 의미 검색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7020" y="4675783"/>
            <a:ext cx="7644319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가까운 경험을 찾는다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766995" y="5780981"/>
            <a:ext cx="7225605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지식 의미를 Embedding으로 저장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상황과 의미가 가까운 순으로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" y="8352731"/>
            <a:ext cx="14946781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“1톤은 가능 / 5톤은 어렵다”는 의미가 비슷해 벡터만으로는 못 가른다.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명확한 조건은 코드로, 의미는 벡터로 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두 판단을 합친 Hybrid RAG.</a:t>
            </a:r>
            <a:endParaRPr lang="en-US" sz="2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4320" y="-10287000"/>
            <a:ext cx="18136209" cy="20574000"/>
          </a:xfrm>
          <a:prstGeom prst="rect">
            <a:avLst/>
          </a:prstGeom>
          <a:gradFill rotWithShape="1">
            <a:gsLst>
              <a:gs pos="0">
                <a:srgbClr val="EDBB00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100000">
                <a:srgbClr val="EDBB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900000">
            <a:off x="6574066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50000">
                <a:srgbClr val="0088B0">
                  <a:alpha val="100000"/>
                </a:srgbClr>
              </a:gs>
              <a:gs pos="100000">
                <a:srgbClr val="0088B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100000">
                <a:srgbClr val="D6006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100000">
                <a:srgbClr val="D6006C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8978" y="1623516"/>
            <a:ext cx="1403658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시연</a:t>
            </a:r>
            <a:endParaRPr lang="en-US" sz="5100" dirty="0"/>
          </a:p>
        </p:txBody>
      </p:sp>
      <p:sp>
        <p:nvSpPr>
          <p:cNvPr id="25" name="Shape 23"/>
          <p:cNvSpPr/>
          <p:nvPr/>
        </p:nvSpPr>
        <p:spPr>
          <a:xfrm>
            <a:off x="847030" y="4492030"/>
            <a:ext cx="4522887" cy="312033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258491" y="3651250"/>
            <a:ext cx="4069963" cy="47371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50290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0" dirty="0"/>
          </a:p>
        </p:txBody>
      </p:sp>
      <p:sp>
        <p:nvSpPr>
          <p:cNvPr id="27" name="Text 25"/>
          <p:cNvSpPr/>
          <p:nvPr/>
        </p:nvSpPr>
        <p:spPr>
          <a:xfrm>
            <a:off x="1258491" y="4903490"/>
            <a:ext cx="406996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0" dirty="0"/>
          </a:p>
        </p:txBody>
      </p:sp>
      <p:sp>
        <p:nvSpPr>
          <p:cNvPr id="28" name="Text 26"/>
          <p:cNvSpPr/>
          <p:nvPr/>
        </p:nvSpPr>
        <p:spPr>
          <a:xfrm>
            <a:off x="1380083" y="5000831"/>
            <a:ext cx="406996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0" dirty="0"/>
          </a:p>
        </p:txBody>
      </p:sp>
      <p:sp>
        <p:nvSpPr>
          <p:cNvPr id="29" name="Text 27"/>
          <p:cNvSpPr/>
          <p:nvPr/>
        </p:nvSpPr>
        <p:spPr>
          <a:xfrm>
            <a:off x="1150340" y="4836239"/>
            <a:ext cx="406996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경험이 지식이 되어 돌아온다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764431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이전 · 4단계 방화문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675783"/>
            <a:ext cx="7644319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주의만 있고 해법이 없다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71575" y="5780981"/>
            <a:ext cx="7225605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방화문이 매우 무겁다</a:t>
            </a:r>
            <a:endParaRPr lang="en-US" sz="2250" dirty="0"/>
          </a:p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손으로 밀면 박스가 쏠린다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854380" y="5462489"/>
            <a:ext cx="6554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48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967020" y="4019153"/>
            <a:ext cx="764431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베테랑 제보 · 검수 · 승인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7020" y="4675783"/>
            <a:ext cx="7644319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50" b="1" spc="-4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4단계, 다시 조회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967020" y="5780981"/>
            <a:ext cx="7644319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방화문이 매우 무겁다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67020" y="6295331"/>
            <a:ext cx="7644319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손으로 밀면 박스가 쏠린다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967020" y="6809681"/>
            <a:ext cx="7157862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 옆 고정용 고리를 걸면 문을 잡지 않아도 된다 </a:t>
            </a:r>
            <a:pPr algn="l" indent="0" marL="0">
              <a:lnSpc>
                <a:spcPct val="158824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새로 추가된 팁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" y="8867081"/>
            <a:ext cx="14946781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기사가 남긴 한마디가 검수를 거쳐,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바로 다음 조회에서 앞선 주의의 해법으로 등장한다 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문제 → 제보 → 해결이 한 화면에서 읽힌다.</a:t>
            </a:r>
            <a:endParaRPr lang="en-US" sz="2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하나의 흐름으로 동작하는 시스템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335050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기사 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714081"/>
            <a:ext cx="3350508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모바일 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1575" y="5781080"/>
            <a:ext cx="332214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음성 제보 · 안내 수신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60416" y="4767263"/>
            <a:ext cx="5106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537796" y="4019153"/>
            <a:ext cx="3350617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서비스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7796" y="4714081"/>
            <a:ext cx="3350617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FastAPI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37771" y="5781080"/>
            <a:ext cx="332224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STT · 지식 추출 · 임베딩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926711" y="4767263"/>
            <a:ext cx="5106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704090" y="4019153"/>
            <a:ext cx="3350617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지식 저장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04090" y="4714081"/>
            <a:ext cx="3350617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MariaDB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504065" y="5781080"/>
            <a:ext cx="332224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구조화 데이터 + 벡터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093005" y="4767263"/>
            <a:ext cx="5106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dirty="0">
                <a:solidFill>
                  <a:srgbClr val="1F1F1C">
                    <a:alpha val="3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870385" y="4019153"/>
            <a:ext cx="3350617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98"/>
              </a:lnSpc>
              <a:buNone/>
            </a:pPr>
            <a:r>
              <a:rPr lang="en-US" sz="1800" spc="72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검색 · 안내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870385" y="4714081"/>
            <a:ext cx="3350617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670360" y="5781080"/>
            <a:ext cx="332224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D1D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조건 필터 + 벡터 유사도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71600" y="7324130"/>
            <a:ext cx="14946781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검수 웹(React)이 승인을 담당한다.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별도 Vector DB 없이 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MariaDB 안에서 검색까지 처리해 데모 구조를 단순하게 유지한다.</a:t>
            </a:r>
            <a:endParaRPr lang="en-US" sz="2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4320" y="-10287000"/>
            <a:ext cx="18136209" cy="20574000"/>
          </a:xfrm>
          <a:prstGeom prst="rect">
            <a:avLst/>
          </a:prstGeom>
          <a:gradFill rotWithShape="1">
            <a:gsLst>
              <a:gs pos="0">
                <a:srgbClr val="EDBB00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100000">
                <a:srgbClr val="EDBB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900000">
            <a:off x="6574066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50000">
                <a:srgbClr val="0088B0">
                  <a:alpha val="100000"/>
                </a:srgbClr>
              </a:gs>
              <a:gs pos="100000">
                <a:srgbClr val="0088B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100000">
                <a:srgbClr val="D6006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D6006C">
                  <a:alpha val="100000"/>
                </a:srgbClr>
              </a:gs>
              <a:gs pos="100000">
                <a:srgbClr val="D6006C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100000">
                <a:srgbClr val="0088B0">
                  <a:alpha val="100000"/>
                </a:srgbClr>
              </a:gs>
            </a:gsLst>
            <a:lin ang="5400000" scaled="0"/>
          </a:gra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8978" y="1623516"/>
            <a:ext cx="3661450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가치와 확장</a:t>
            </a:r>
            <a:endParaRPr lang="en-US" sz="5100" dirty="0"/>
          </a:p>
        </p:txBody>
      </p:sp>
      <p:sp>
        <p:nvSpPr>
          <p:cNvPr id="25" name="Shape 23"/>
          <p:cNvSpPr/>
          <p:nvPr/>
        </p:nvSpPr>
        <p:spPr>
          <a:xfrm>
            <a:off x="847030" y="4492030"/>
            <a:ext cx="4512568" cy="312033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258491" y="3651250"/>
            <a:ext cx="4058613" cy="47371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50290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0" dirty="0"/>
          </a:p>
        </p:txBody>
      </p:sp>
      <p:sp>
        <p:nvSpPr>
          <p:cNvPr id="27" name="Text 25"/>
          <p:cNvSpPr/>
          <p:nvPr/>
        </p:nvSpPr>
        <p:spPr>
          <a:xfrm>
            <a:off x="1258491" y="4903490"/>
            <a:ext cx="405861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0" dirty="0"/>
          </a:p>
        </p:txBody>
      </p:sp>
      <p:sp>
        <p:nvSpPr>
          <p:cNvPr id="28" name="Text 26"/>
          <p:cNvSpPr/>
          <p:nvPr/>
        </p:nvSpPr>
        <p:spPr>
          <a:xfrm>
            <a:off x="1380083" y="5000831"/>
            <a:ext cx="405861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0" dirty="0"/>
          </a:p>
        </p:txBody>
      </p:sp>
      <p:sp>
        <p:nvSpPr>
          <p:cNvPr id="29" name="Text 27"/>
          <p:cNvSpPr/>
          <p:nvPr/>
        </p:nvSpPr>
        <p:spPr>
          <a:xfrm>
            <a:off x="1150340" y="4836239"/>
            <a:ext cx="4058613" cy="233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82"/>
              </a:lnSpc>
              <a:buNone/>
            </a:pPr>
            <a:r>
              <a:rPr lang="en-US" sz="27000" b="1" spc="-540" kern="0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기대 효과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804672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시행착오 감소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503"/>
            <a:ext cx="7534656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신규 기사도 첫 방문에서 베테랑의 진입·정차·주의 정보를 그대로 받는다.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01200" y="4019153"/>
            <a:ext cx="804672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노하우 전승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01200" y="4533503"/>
            <a:ext cx="7534656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개인의 기억에 갇혀 있던 현장 경험이 담당자 교체와 무관하게 이어진다.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6268045"/>
            <a:ext cx="804672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정보의 자산화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71600" y="6782395"/>
            <a:ext cx="7534656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일회성 팁이 검수된 현장 지식으로 축적되어 조직의 배송 데이터가 된다.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6268045"/>
            <a:ext cx="804672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100m 품질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01200" y="6782395"/>
            <a:ext cx="7534656" cy="7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차량·시간·위치에 맞는 안내로 배송의 마지막 구간이 예측 가능해진다.</a:t>
            </a:r>
            <a:endParaRPr lang="en-US" sz="2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1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41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지금부터 넓혀갈 수 있는 것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서비스 확장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503"/>
            <a:ext cx="7475792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고객 메시지 응답 보조와 배송지 변경 요청 반영. 실제 지도 API 위에 추천 게이트·정차 지점 표시. 배송 시스템 연동.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58350" y="4019153"/>
            <a:ext cx="7983855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48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데이터가 만드는 해자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58350" y="4533503"/>
            <a:ext cx="7475792" cy="125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 데이터가 쌓일수록 지식 충돌 탐지, 최근성·신뢰도 관리, 배송 마찰도까지 확장된다. 규모가 커지면 대규모 Vector DB로 전환한다.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7105254"/>
            <a:ext cx="15962581" cy="22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장소, 한 팀에서 검증한 순환을 </a:t>
            </a:r>
            <a:pPr algn="l" indent="0" marL="0">
              <a:lnSpc>
                <a:spcPct val="158824"/>
              </a:lnSpc>
              <a:buNone/>
            </a:pPr>
            <a:r>
              <a:rPr lang="en-US" sz="225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다른 현장으로 그대로 복제</a:t>
            </a:r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할 수 있다.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23417"/>
            <a:ext cx="9778967" cy="119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4350" i="1" spc="-43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“한 기사가 남긴 한마디가 다음 기사의 시행착오를 줄인다.”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371600" y="3292078"/>
            <a:ext cx="17099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MOVE-AI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7416" y="9771857"/>
            <a:ext cx="2198985" cy="153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2026-08-13T04:00:15Z</dcterms:created>
  <dcterms:modified xsi:type="dcterms:W3CDTF">2026-08-13T04:00:15Z</dcterms:modified>
</cp:coreProperties>
</file>